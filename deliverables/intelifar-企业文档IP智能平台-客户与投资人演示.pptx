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b537f17d944b3" /><Relationship Type="http://schemas.openxmlformats.org/officeDocument/2006/relationships/extended-properties" Target="/docProps/app.xml" Id="R05e565051da54086" /><Relationship Type="http://schemas.openxmlformats.org/officeDocument/2006/relationships/officeDocument" Target="/ppt/presentation.xml" Id="Rf028d21d767e45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6737d10f648e2"/>
  </p:sldMasterIdLst>
  <p:notesMasterIdLst>
    <p:notesMasterId xmlns:r="http://schemas.openxmlformats.org/officeDocument/2006/relationships" r:id="Rc66d02a6962f4eea"/>
  </p:notesMasterIdLst>
  <p:sldIdLst>
    <p:sldId xmlns:r="http://schemas.openxmlformats.org/officeDocument/2006/relationships" id="256" r:id="Rb6a5da56519a4256"/>
    <p:sldId xmlns:r="http://schemas.openxmlformats.org/officeDocument/2006/relationships" id="257" r:id="Rbf3f90ae853c4414"/>
    <p:sldId xmlns:r="http://schemas.openxmlformats.org/officeDocument/2006/relationships" id="258" r:id="R1b7768b3cd0048ba"/>
    <p:sldId xmlns:r="http://schemas.openxmlformats.org/officeDocument/2006/relationships" id="259" r:id="R7048a02228c34143"/>
    <p:sldId xmlns:r="http://schemas.openxmlformats.org/officeDocument/2006/relationships" id="260" r:id="R4fb9f05b77b04d8f"/>
    <p:sldId xmlns:r="http://schemas.openxmlformats.org/officeDocument/2006/relationships" id="261" r:id="R604ad408d88f4097"/>
    <p:sldId xmlns:r="http://schemas.openxmlformats.org/officeDocument/2006/relationships" id="262" r:id="Rc7cca884f1c54bac"/>
    <p:sldId xmlns:r="http://schemas.openxmlformats.org/officeDocument/2006/relationships" id="263" r:id="R33c45083d625402e"/>
    <p:sldId xmlns:r="http://schemas.openxmlformats.org/officeDocument/2006/relationships" id="264" r:id="Rcdb6474d8ec24e22"/>
    <p:sldId xmlns:r="http://schemas.openxmlformats.org/officeDocument/2006/relationships" id="265" r:id="Rd84b1a2fe0884ab0"/>
    <p:sldId xmlns:r="http://schemas.openxmlformats.org/officeDocument/2006/relationships" id="266" r:id="R75ce58116eba4f0b"/>
    <p:sldId xmlns:r="http://schemas.openxmlformats.org/officeDocument/2006/relationships" id="267" r:id="R2dc8796e6cf64969"/>
    <p:sldId xmlns:r="http://schemas.openxmlformats.org/officeDocument/2006/relationships" id="268" r:id="Ra1665e8456194222"/>
    <p:sldId xmlns:r="http://schemas.openxmlformats.org/officeDocument/2006/relationships" id="269" r:id="Ra7825dcd245244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e6daf34ba4d6f" /><Relationship Type="http://schemas.openxmlformats.org/officeDocument/2006/relationships/slideMaster" Target="/ppt/slideMasters/slideMaster1.xml" Id="Re176737d10f648e2" /><Relationship Type="http://schemas.openxmlformats.org/officeDocument/2006/relationships/notesMaster" Target="/ppt/notesMasters/notesMaster1.xml" Id="Rc66d02a6962f4eea" /><Relationship Type="http://schemas.openxmlformats.org/officeDocument/2006/relationships/presProps" Target="/ppt/presProps.xml" Id="R4843afb65ba74dfb" /><Relationship Type="http://schemas.openxmlformats.org/officeDocument/2006/relationships/tableStyles" Target="/ppt/tableStyles.xml" Id="R1aee3c593ea24cd5" /><Relationship Type="http://schemas.openxmlformats.org/officeDocument/2006/relationships/slide" Target="/ppt/slides/slide1.xml" Id="Rb6a5da56519a4256" /><Relationship Type="http://schemas.openxmlformats.org/officeDocument/2006/relationships/slide" Target="/ppt/slides/slide2.xml" Id="Rbf3f90ae853c4414" /><Relationship Type="http://schemas.openxmlformats.org/officeDocument/2006/relationships/slide" Target="/ppt/slides/slide3.xml" Id="R1b7768b3cd0048ba" /><Relationship Type="http://schemas.openxmlformats.org/officeDocument/2006/relationships/slide" Target="/ppt/slides/slide4.xml" Id="R7048a02228c34143" /><Relationship Type="http://schemas.openxmlformats.org/officeDocument/2006/relationships/slide" Target="/ppt/slides/slide5.xml" Id="R4fb9f05b77b04d8f" /><Relationship Type="http://schemas.openxmlformats.org/officeDocument/2006/relationships/slide" Target="/ppt/slides/slide6.xml" Id="R604ad408d88f4097" /><Relationship Type="http://schemas.openxmlformats.org/officeDocument/2006/relationships/slide" Target="/ppt/slides/slide7.xml" Id="Rc7cca884f1c54bac" /><Relationship Type="http://schemas.openxmlformats.org/officeDocument/2006/relationships/slide" Target="/ppt/slides/slide8.xml" Id="R33c45083d625402e" /><Relationship Type="http://schemas.openxmlformats.org/officeDocument/2006/relationships/slide" Target="/ppt/slides/slide9.xml" Id="Rcdb6474d8ec24e22" /><Relationship Type="http://schemas.openxmlformats.org/officeDocument/2006/relationships/slide" Target="/ppt/slides/slide10.xml" Id="Rd84b1a2fe0884ab0" /><Relationship Type="http://schemas.openxmlformats.org/officeDocument/2006/relationships/slide" Target="/ppt/slides/slide11.xml" Id="R75ce58116eba4f0b" /><Relationship Type="http://schemas.openxmlformats.org/officeDocument/2006/relationships/slide" Target="/ppt/slides/slide12.xml" Id="R2dc8796e6cf64969" /><Relationship Type="http://schemas.openxmlformats.org/officeDocument/2006/relationships/slide" Target="/ppt/slides/slide13.xml" Id="Ra1665e8456194222" /><Relationship Type="http://schemas.openxmlformats.org/officeDocument/2006/relationships/slide" Target="/ppt/slides/slide14.xml" Id="Ra7825dcd2452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329d468793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ba35b3238a481b" /><Relationship Type="http://schemas.openxmlformats.org/officeDocument/2006/relationships/notesMaster" Target="/ppt/notesMasters/notesMaster1.xml" Id="Ra1b6fc5cbfa64b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250fa68b6042b8" /><Relationship Type="http://schemas.openxmlformats.org/officeDocument/2006/relationships/notesMaster" Target="/ppt/notesMasters/notesMaster1.xml" Id="Rfa837a35dbec43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cb38aa232453f" /><Relationship Type="http://schemas.openxmlformats.org/officeDocument/2006/relationships/notesMaster" Target="/ppt/notesMasters/notesMaster1.xml" Id="Rf057495afe9e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2ac37a1f1403a" /><Relationship Type="http://schemas.openxmlformats.org/officeDocument/2006/relationships/notesMaster" Target="/ppt/notesMasters/notesMaster1.xml" Id="Rc5310c03021a4f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a714f36bd4409" /><Relationship Type="http://schemas.openxmlformats.org/officeDocument/2006/relationships/notesMaster" Target="/ppt/notesMasters/notesMaster1.xml" Id="R50ef46855016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422e9c31ca420b" /><Relationship Type="http://schemas.openxmlformats.org/officeDocument/2006/relationships/notesMaster" Target="/ppt/notesMasters/notesMaster1.xml" Id="R50b6aab33b8443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1644772909413f" /><Relationship Type="http://schemas.openxmlformats.org/officeDocument/2006/relationships/notesMaster" Target="/ppt/notesMasters/notesMaster1.xml" Id="R37f755f1685f46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ff6175e624850" /><Relationship Type="http://schemas.openxmlformats.org/officeDocument/2006/relationships/notesMaster" Target="/ppt/notesMasters/notesMaster1.xml" Id="R2ada71c3e01f4a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3fae89f09f47b9" /><Relationship Type="http://schemas.openxmlformats.org/officeDocument/2006/relationships/notesMaster" Target="/ppt/notesMasters/notesMaster1.xml" Id="R45f8c506da2648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2ee16558224309" /><Relationship Type="http://schemas.openxmlformats.org/officeDocument/2006/relationships/notesMaster" Target="/ppt/notesMasters/notesMaster1.xml" Id="R34165704ec0c47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80483c47f04840" /><Relationship Type="http://schemas.openxmlformats.org/officeDocument/2006/relationships/notesMaster" Target="/ppt/notesMasters/notesMaster1.xml" Id="Rc87953ce3e8542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d38133cafd4114" /><Relationship Type="http://schemas.openxmlformats.org/officeDocument/2006/relationships/notesMaster" Target="/ppt/notesMasters/notesMaster1.xml" Id="R23908a20c70c4a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8cc0dd3a5144e2" /><Relationship Type="http://schemas.openxmlformats.org/officeDocument/2006/relationships/notesMaster" Target="/ppt/notesMasters/notesMaster1.xml" Id="Reb7907462b23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26ab97c160452b" /><Relationship Type="http://schemas.openxmlformats.org/officeDocument/2006/relationships/notesMaster" Target="/ppt/notesMasters/notesMaster1.xml" Id="Rb197855f0263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开场只讲一个判断：企业文档的价值不在存储数量，而在能否被可信地复用。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不要把问题说成“缺 AI”。真正缺的是从文档到正式知识的连续责任链。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右侧为当前真实 UI；强调它不是概念设计。</a:t>
            </a:r>
          </a:p>
          <a:p xmlns:a="http://schemas.openxmlformats.org/drawingml/2006/main">
            <a:r>
              <a:t>来源：artifacts/real-ui-port/01-real-ui-home-4388.png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闭环中每一步都能找到负责人和状态；模型输出不直接等同于正式知识。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演示时点击“查看原文依据”是最有说服力的动作。</a:t>
            </a:r>
          </a:p>
          <a:p xmlns:a="http://schemas.openxmlformats.org/drawingml/2006/main">
            <a:r>
              <a:t>来源：artifacts/screenshots/14-real-published-wiki.png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网络只展示当前账号有权查看的资产；待复核关系不会被自动当作事实。</a:t>
            </a:r>
          </a:p>
          <a:p xmlns:a="http://schemas.openxmlformats.org/drawingml/2006/main">
            <a:r>
              <a:t>来源：artifacts/ip-asset-graph/06-neural-panorama.png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受控 Agent 的差异是：允许复杂任务，但每一步仍在封闭工具、当前角色和证据门槛之内。</a:t>
            </a:r>
          </a:p>
          <a:p xmlns:a="http://schemas.openxmlformats.org/drawingml/2006/main">
            <a:r>
              <a:t>来源：artifacts/ip-agent/02-grounded-delivery.png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这里强调“谁能做什么”与“做过什么”都可以被解释。</a:t>
            </a:r>
          </a:p>
          <a:p xmlns:a="http://schemas.openxmlformats.org/drawingml/2006/main">
            <a:r>
              <a:t>来源：artifacts/user-guide-review/06-operation-records.png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Semantica 在本地运行，只接收经过权限和字段限制的资产投影。</a:t>
            </a:r>
          </a:p>
          <a:p xmlns:a="http://schemas.openxmlformats.org/drawingml/2006/main">
            <a:r>
              <a:t>来源：artifacts/semantica-phase-2/07-real-action-center.png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外部模型承担计算，本地系统承担权限、持久化、正式知识和责任链。</a:t>
            </a:r>
          </a:p>
          <a:p xmlns:a="http://schemas.openxmlformats.org/drawingml/2006/main">
            <a:r>
              <a:t>技术实现依据：README.md、site/server、integrations/semantica。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投资视角：随着文档、关系和治理反馈积累，客户价值来自专属知识网络，而非单次模型调用。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客户试点建议以业务验收问题为中心，不以模型分数或演示效果作为唯一标准。</a:t>
            </a:r>
          </a:p>
          <a:p xmlns:a="http://schemas.openxmlformats.org/drawingml/2006/main">
            <a:r>
              <a:t>来源：artifacts/screenshots/02-document-intake.png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验证时间：2026-08-12。</a:t>
            </a:r>
          </a:p>
          <a:p xmlns:a="http://schemas.openxmlformats.org/drawingml/2006/main">
            <a:r>
              <a:t>来源：npm test、npm run build、npm audit、artifacts/e2e-report.md、artifacts/semantica-phase-2/report.md。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收尾不做泛泛感谢，直接邀请对方用一组真实资料验证三项结果。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本演示中的产品能力与截图来自 intelifar 本地工作空间及自动化验收产物。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8c5876c85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2d455515ea49f7" /><Relationship Type="http://schemas.openxmlformats.org/officeDocument/2006/relationships/slideLayout" Target="/ppt/slideLayouts/slideLayout1.xml" Id="Raee4118e20aa47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4118e20aa47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c554f6429484f" /><Relationship Type="http://schemas.openxmlformats.org/officeDocument/2006/relationships/image" Target="/ppt/media/image.png" Id="R0c5213704a2e49a4" /><Relationship Type="http://schemas.openxmlformats.org/officeDocument/2006/relationships/notesSlide" Target="/ppt/notesSlides/notesSlide1.xml" Id="Rfad1363ba4e34f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972a1c083432d" /><Relationship Type="http://schemas.openxmlformats.org/officeDocument/2006/relationships/notesSlide" Target="/ppt/notesSlides/notesSlide2.xml" Id="R4549c798d0e9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92c875d7a4650" /><Relationship Type="http://schemas.openxmlformats.org/officeDocument/2006/relationships/image" Target="/ppt/media/image2.png" Id="Rdab8b79fdc364e1f" /><Relationship Type="http://schemas.openxmlformats.org/officeDocument/2006/relationships/notesSlide" Target="/ppt/notesSlides/notesSlide3.xml" Id="Rb85ee5be946143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a794db2ae4235" /><Relationship Type="http://schemas.openxmlformats.org/officeDocument/2006/relationships/notesSlide" Target="/ppt/notesSlides/notesSlide4.xml" Id="R1761f3acd682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d5a5d6a9641d2" /><Relationship Type="http://schemas.openxmlformats.org/officeDocument/2006/relationships/image" Target="/ppt/media/image3.png" Id="Rc81abc28aa994a1c" /><Relationship Type="http://schemas.openxmlformats.org/officeDocument/2006/relationships/notesSlide" Target="/ppt/notesSlides/notesSlide5.xml" Id="Rc3bc9afd9d82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8629397974254" /><Relationship Type="http://schemas.openxmlformats.org/officeDocument/2006/relationships/image" Target="/ppt/media/image4.png" Id="Rf507117026c74ba5" /><Relationship Type="http://schemas.openxmlformats.org/officeDocument/2006/relationships/notesSlide" Target="/ppt/notesSlides/notesSlide6.xml" Id="Rd4b51182575f41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27ec8bbe4e9f" /><Relationship Type="http://schemas.openxmlformats.org/officeDocument/2006/relationships/image" Target="/ppt/media/image5.png" Id="Rad37eb40e697405e" /><Relationship Type="http://schemas.openxmlformats.org/officeDocument/2006/relationships/notesSlide" Target="/ppt/notesSlides/notesSlide7.xml" Id="R858585a735bd44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a38d089149ac" /><Relationship Type="http://schemas.openxmlformats.org/officeDocument/2006/relationships/image" Target="/ppt/media/image6.png" Id="R0dcaa2d7ef984acb" /><Relationship Type="http://schemas.openxmlformats.org/officeDocument/2006/relationships/notesSlide" Target="/ppt/notesSlides/notesSlide8.xml" Id="R021edbdb455042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52fe7a9c24ce1" /><Relationship Type="http://schemas.openxmlformats.org/officeDocument/2006/relationships/image" Target="/ppt/media/image.jpeg" Id="Rcfd19c3953614428" /><Relationship Type="http://schemas.openxmlformats.org/officeDocument/2006/relationships/notesSlide" Target="/ppt/notesSlides/notesSlide9.xml" Id="R079ca542ff7b4d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ad03703444198" /><Relationship Type="http://schemas.openxmlformats.org/officeDocument/2006/relationships/notesSlide" Target="/ppt/notesSlides/notesSlide10.xml" Id="R6d77144500e646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2cae798384e6f" /><Relationship Type="http://schemas.openxmlformats.org/officeDocument/2006/relationships/notesSlide" Target="/ppt/notesSlides/notesSlide11.xml" Id="R409bcd37bd8644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65601dfd1498c" /><Relationship Type="http://schemas.openxmlformats.org/officeDocument/2006/relationships/image" Target="/ppt/media/image7.png" Id="R436ef30e20664d79" /><Relationship Type="http://schemas.openxmlformats.org/officeDocument/2006/relationships/notesSlide" Target="/ppt/notesSlides/notesSlide12.xml" Id="R3ad306a3164342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d593d6e9e4494" /><Relationship Type="http://schemas.openxmlformats.org/officeDocument/2006/relationships/image" Target="/ppt/media/image8.png" Id="R14eca6002e434f18" /><Relationship Type="http://schemas.openxmlformats.org/officeDocument/2006/relationships/notesSlide" Target="/ppt/notesSlides/notesSlide13.xml" Id="Rdae5d51ca7fe4a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101d37caa49e0" /><Relationship Type="http://schemas.openxmlformats.org/officeDocument/2006/relationships/image" Target="/ppt/media/image9.png" Id="Re3d0518bb92145de" /><Relationship Type="http://schemas.openxmlformats.org/officeDocument/2006/relationships/notesSlide" Target="/ppt/notesSlides/notesSlide14.xml" Id="R8c427df3adee40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213704a2e49a4"/>
          <a:stretch xmlns:a="http://schemas.openxmlformats.org/drawingml/2006/main"/>
        </p:blipFill>
        <p:spPr>
          <a:xfrm xmlns:a="http://schemas.openxmlformats.org/drawingml/2006/main">
            <a:off x="851452" y="514350"/>
            <a:ext cx="2049946" cy="571500"/>
          </a:xfrm>
          <a:prstGeom xmlns:a="http://schemas.openxmlformats.org/drawingml/2006/main" prst="roundRect">
            <a:avLst>
              <a:gd name="adj" fmla="val 2333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BCCED-17A8-4DAE-8599-DC35B08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6762D2E7-E289-4776-BCA9-23FAEB2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858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让每份长文档，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成为企业可以持续增长的知识资产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F296-AA9F-4BCD-989C-A8BD1BF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B5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5B0FF"/>
                </a:solidFill>
                <a:latin typeface="Microsoft YaHei"/>
                <a:ea typeface="Microsoft YaHei"/>
                <a:cs typeface="Microsoft YaHei"/>
              </a:rPr>
              <a:t>企业文档 IP 智能分析与 Wiki 管理平台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44FC6-1A12-4F10-8925-D7852CE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296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296A8"/>
                </a:solidFill>
                <a:latin typeface="Microsoft YaHei"/>
                <a:ea typeface="Microsoft YaHei"/>
                <a:cs typeface="Microsoft YaHei"/>
              </a:rPr>
              <a:t>客户与投资人演示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9BBDA-A523-4A72-B923-06E4588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DA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9DAE4"/>
                </a:solidFill>
                <a:latin typeface="Microsoft YaHei"/>
                <a:ea typeface="Microsoft YaHei"/>
                <a:cs typeface="Microsoft YaHei"/>
              </a:rPr>
              <a:t>可检索  /  可追溯  /  可治理  /  可安全复用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3BD6F-813E-450D-B986-A889C7A1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314450" cy="491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93B2D-5A2E-4F3B-9086-F37C4D8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INTELLIGENCE</a:t>
            </a:r>
          </a:p>
        </p:txBody>
      </p:sp>
    </p:spTree>
    <p:extLst>
      <p:ext uri="{BB962C8B-B14F-4D97-AF65-F5344CB8AC3E}">
        <p14:creationId xmlns:p14="http://schemas.microsoft.com/office/powerpoint/2010/main" val="1308226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3DC71-F49A-4A30-BCF2-E6E286D9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THE KNOWLEDGE GAP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18AB20-A23B-4AC5-882A-D137D27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企业最重要的知识，仍被锁在长文档里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D858A-E997-469A-9760-4215032A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文件可以找到，结论却很难被复核、连接和安全复用。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8431B-F128-4B06-BE75-D8E6D468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0368-FEC6-4BA2-AA46-5B18044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24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知识散落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60E29-E3C3-44C0-B30B-4B56CFD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rPr>
              <a:t>同一技术、产品或客户信息分布在多种格式与多个版本中。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EB1A8-9503-4869-9D66-0AB02C47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1942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646"/>
          </a:solidFill>
          <a:ln xmlns:a="http://schemas.openxmlformats.org/drawingml/2006/main" w="0">
            <a:solidFill>
              <a:srgbClr val="3436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C389-FB2E-47CF-9412-B39FE271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DC401-3697-443B-BFE0-C76385F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38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证据断裂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828A9-D812-406B-AA37-74BC4D92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rPr>
              <a:t>摘要与回答无法稳定回到原文位置，重要判断缺少复核入口。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6FF51-9D78-46F0-800B-4D77489C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3382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646"/>
          </a:solidFill>
          <a:ln xmlns:a="http://schemas.openxmlformats.org/drawingml/2006/main" w="0">
            <a:solidFill>
              <a:srgbClr val="3436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F4FD4-584D-4975-B15F-63FF8677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FE2FD-54D2-477A-8624-765ADDC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关系不可见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2A353-5429-4809-8D4D-523F6EE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719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rPr>
              <a:t>依赖、复用、冲突与影响范围主要存在于少数专家记忆中。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D462F-267C-44F5-B8D7-63984F11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4822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646"/>
          </a:solidFill>
          <a:ln xmlns:a="http://schemas.openxmlformats.org/drawingml/2006/main" w="0">
            <a:solidFill>
              <a:srgbClr val="3436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A2CAB-6AAB-4E7D-AE6A-6D12C940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A99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2B85B-FBEA-4E90-B3AC-DBCF58E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6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治理滞后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ADC3E-DD0B-4EE3-8C6D-0AF52EE6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CAD7"/>
                </a:solidFill>
                <a:latin typeface="Microsoft YaHei"/>
                <a:ea typeface="Microsoft YaHei"/>
                <a:cs typeface="Microsoft YaHei"/>
              </a:rPr>
              <a:t>权限、审批、分享和离职交接常在知识生成之后补做。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88D84-AB5F-4F2C-A54D-DE173FB5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1FFA8-BFF5-449B-BC2D-F6786986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6456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3A8F2-C208-4596-AA4B-5A5657C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PRODUCT PROMISE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4D8BAF-F18B-40E4-BC85-A29B465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intelifar 把文档变成有来源、有关系、有责任人的 IP 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B0747-C121-4A4A-94B6-E37FCD93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不是增加一个聊天框，而是建立一条可以治理的企业知识链。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C2F74-10F6-4B5D-8E1A-488316B3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08ECE-FFAC-4189-8192-B7BEA54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33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638F6-B07F-4830-8B22-7E8291F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跨文档搜索已经发布的资产、Wiki 与原文依据。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87C72-0B4E-4900-8C24-5EC12B51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157FD-8B5C-44C6-BA7D-95A85CAA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AF978-8C75-4924-AB11-F79E27DD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051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信得过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AD1E8-6DC1-4697-9CCE-BC156106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关键结论带来源位置、摘录、版本与校验信息。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F1478-0BB9-4CF5-9748-F5557448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8F2A0-6499-4FB8-BB9E-D9108992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5CD84-B77D-443D-9DC9-16126F6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767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管得住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31470-9ED2-451A-A844-74BB1067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角色、审批、密级、分享、审计和备份进入同一工作空间。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F9FD3-055C-4280-A9E5-669D8E9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8b79fdc364e1f"/>
          <a:srcRect xmlns:a="http://schemas.openxmlformats.org/drawingml/2006/main" l="13421" t="0" r="13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876300"/>
            <a:ext cx="5067300" cy="4810125"/>
          </a:xfrm>
          <a:prstGeom xmlns:a="http://schemas.openxmlformats.org/drawingml/2006/main" prst="roundRect">
            <a:avLst>
              <a:gd name="adj" fmla="val 2772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7225E-2AB4-445B-B4C5-B5273D2B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真实产品界面 · 4388 工作空间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16AF0-3D9B-4819-B897-F313FF9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813F4-4A31-4B26-B121-AF4BA7FC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425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AF5A7F-9564-4CE7-8590-9EE627F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END-TO-END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54CC0C-BCAB-436D-B6D0-BDDC243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一条闭环，把“读文档”升级为“经营知识资产”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65C2E-316F-4B7A-B385-8E51CEE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智能能力负责提取与建议，权限和人工复核决定什么进入正式知识。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2ED0D-0AFC-4B6E-A452-7A64AA6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6BB7D-0406-4B6F-8C7C-9261CCA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5506-5DD9-420A-8086-070E0E0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授权文档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安全预检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6D23B-0E39-4E77-8CCD-F83EC88D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870C8-D83A-4C89-93B6-F2F4DE09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C1F12-5821-4E5A-9D8A-3BCA304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6923B-ACBA-4C79-99F7-5EB8D546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1C9A4-EA7C-49E5-B99A-C64C55A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章节表格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版面结构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56AF5-93DC-4EEF-ADC9-201EE159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89320-64EB-4B3F-8F98-DC2217AB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5E313-DAFD-4265-A96E-5BF1000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4FEFD-15EF-457E-A030-46CBA4F3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提取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AF1B1-A435-4AE2-9285-FA4E9608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资产风险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关系草案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3C2CB-5ED8-4F62-98A3-5EEC4B3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AC3FE-5338-4E54-9522-C320266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EF298-8000-4166-ADFB-B997D131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F0C3E-3E3E-4342-90AB-E4665CB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6E1B7-FF2C-4C9F-9F6E-FEFEE480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证据权属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密级审批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9F813-FF9F-458A-BC22-2CF4396B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5B893-6FC4-46CC-BD70-70C85C3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19801-14A7-4DE4-A831-1350C115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AC7D3-0182-4BAE-B4B3-8E3BE8B4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9B5D2-6D5D-4D76-B2E6-9FBBE06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资产 Wiki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版本留痕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7ACD3-EA65-4350-958F-9DDB860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64285-2994-4FC6-8475-8BAD435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A5A8B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190962-75B2-48E1-946F-E12E1861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97446-D179-4A2F-B617-875E38E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3F003-AAFD-437C-86C5-50F8C0A7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99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搜索网络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Agent 分享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76FD6-4385-45C5-B6DE-27F4EBF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767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B267AE-6AED-46EF-8FEC-056A611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CEAFF"/>
          </a:solidFill>
          <a:ln xmlns:a="http://schemas.openxmlformats.org/drawingml/2006/main" w="0">
            <a:solidFill>
              <a:srgbClr val="ECEA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48DE0-F76C-492B-899D-111AC3FE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4A3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A3CDB"/>
                </a:solidFill>
                <a:latin typeface="Microsoft YaHei"/>
                <a:ea typeface="Microsoft YaHei"/>
                <a:cs typeface="Microsoft YaHei"/>
              </a:rPr>
              <a:t>正式知识的门槛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3D4F2F-24CD-402E-9B0B-15D92DC1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91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证据可回溯  ·  人工可复核  ·  权限可执行  ·  变更可审计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F9DEB-C1AD-4F49-B9AA-8F9B9F0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E946E9-5567-4829-88C2-A57F42E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1497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3D4B9-E81D-4DAA-A28B-80150A6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PROVENANCE-FIRST WIKI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CEEDB6-3A14-456E-B41E-F0636BA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每个重要结论，都能沿证据链回到原文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FC431-6C96-4E03-9AB5-79EF237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资产、Wiki、版本与来源定位共同回答：这项知识从哪里来，为什么可以相信。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A4A66-A218-4B80-81B1-0FD8F671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D5771-6416-4829-80A0-2662DFA7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形成可阅读、可搜索、可版本化的 Wiki 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186B0-28DF-4ECC-8668-396390BF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6487D-675C-4054-BDBD-91E489A3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77A60-EF93-41D1-A49D-C7E8DAAD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记录原始文档、章节或页码、摘录与内容校验信息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7CB3B-F8BE-469E-90B8-91C6A7A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审批前正式版本保持不变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abc28aa994a1c"/>
          <a:srcRect xmlns:a="http://schemas.openxmlformats.org/drawingml/2006/main" l="0" t="20403" r="0" b="20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38350"/>
            <a:ext cx="5638800" cy="3924300"/>
          </a:xfrm>
          <a:prstGeom xmlns:a="http://schemas.openxmlformats.org/drawingml/2006/main" prst="roundRect">
            <a:avLst>
              <a:gd name="adj" fmla="val 339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6D386-E080-4308-8065-61DFA25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F7339-88F3-44AC-9B63-F3713AE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3825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B3203-1606-42B3-BF04-B21C6725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IP PANORAMA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C72527-FAB0-49B6-AC28-35E4489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知识不再只是页面，而是一张可以缩放和追问的 IP 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D67-A9C8-4717-95BB-4E847D3C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从全局识别核心资产，从局部判断依赖、复用路径和变更影响。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7117026c74ba5"/>
          <a:srcRect xmlns:a="http://schemas.openxmlformats.org/drawingml/2006/main" l="0" t="12315" r="0" b="12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38350"/>
            <a:ext cx="7734300" cy="4048125"/>
          </a:xfrm>
          <a:prstGeom xmlns:a="http://schemas.openxmlformats.org/drawingml/2006/main" prst="roundRect">
            <a:avLst>
              <a:gd name="adj" fmla="val 329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75DD2-29E0-4EDF-A690-4794747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缩小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3A30D-6706-4A3E-A933-B1C8EDC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6222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rPr>
              <a:t>识别知识密集区与孤立资产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D422-7D1E-458E-B7D8-ED783FC0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337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放大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97E09-ABDB-4C9B-8ABC-45E7D76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575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rPr>
              <a:t>查看权属、密级、证据与来源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26068-2217-47D2-AA99-ED328AD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聚焦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388A-1E52-4A8D-8BF8-B02482A1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5292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rPr>
              <a:t>保留一跳关系评估影响范围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9D7D5-9B51-4F50-AFA0-0CF57BDE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244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7F759-BC62-4714-895F-58E070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482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0D2DC"/>
                </a:solidFill>
                <a:latin typeface="Microsoft YaHei"/>
                <a:ea typeface="Microsoft YaHei"/>
                <a:cs typeface="Microsoft YaHei"/>
              </a:rPr>
              <a:t>建议关系经人工确认后才生效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41639-F0FF-425A-A3E1-9671FDF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DBA65-272B-4250-A0C0-674D5C6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6880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73C74-67FF-4932-83E7-3ABE811C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BOUNDED IP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9A78C-2AA5-4FE9-A69E-0232877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自然语言负责泛化，确定性边界负责企业交付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99D6D-6488-4F92-935C-852662E5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IP 任务助手处理盘点、影响分析、证据核查、对比、风险和尽调，但不成为通用执行代理。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0152-A879-4FF5-955B-E3C4B97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它能做什么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0EBC1-080C-4868-A7F2-98D8DF9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搜索授权资产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检查关系与依赖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核对原文证据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生成结构化交付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提出 Wiki 草案建议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B4E76-C0DB-4950-8832-A87B9ED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rPr>
              <a:t>它不会做什么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3730E-479A-410C-A612-833D7E6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不执行代码、系统命令、任意联网、自动发布、删除或权限修改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7eb40e697405e"/>
          <a:stretch xmlns:a="http://schemas.openxmlformats.org/drawingml/2006/main"/>
        </p:blipFill>
        <p:spPr>
          <a:xfrm xmlns:a="http://schemas.openxmlformats.org/drawingml/2006/main">
            <a:off x="6153175" y="2019300"/>
            <a:ext cx="3962351" cy="4067175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82446-83E4-478F-8E69-AD3C65C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E305D-3493-48E6-8490-2806B606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7851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DC53A-E7A9-4D3F-ACD3-C3150A1A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GOVERNANCE BY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AC847-B1BE-4ABF-A47D-2DD1894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权限、审批和留痕，让知识资产真正进入组织流程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7C2E-789F-45BA-BDDA-36D9D306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治理不是上线后的附加项，而是从文档接入到对外分享的默认路径。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aa2d7ef984acb"/>
          <a:srcRect xmlns:a="http://schemas.openxmlformats.org/drawingml/2006/main" l="0" t="6174" r="0" b="6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657225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007C-EC88-4329-8081-FCA423F2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6BA6-D938-4D50-8318-8CB4E0E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所有者、管理员、编辑者、阅读成员和外部收件人各有清晰边界。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EDE69-901A-4275-BE88-812FB336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B46BF-8787-47C3-BD40-1342D55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发布、关系、权属密级和语义建议保留人工决定。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15418-9ED3-417D-95C7-006CA43A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0BAC-C52D-4235-9DCD-708B8B2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0530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脱敏 Wiki 使用链接与独立访问码，支持有效期和撤销。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67F06-2818-401B-894D-807A315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49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连续性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E1161-62E7-4824-9D39-1FCE3A5C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3875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Wiki 版本、任务、操作记录和已验证备份持久保存。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B067E-6841-4E43-BD18-6DCEFDFE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A928B-F6BE-42CB-A8DF-CCE5660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0089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03D24-C607-4726-BC7A-D8C9DB8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KNOWLEDGE QUALITY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646B34-ED44-4BC4-BE57-16F654CC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知识库增长之后，系统继续发现重复、冲突和治理欠账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D217E-B82F-4638-8AD7-18005585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本地语义体检把算法建议转化为管理员待办；正式资产仍由业务人员决定。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552A4-F2ED-412A-94FB-BDED69ED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AC67A-B314-40A6-95DE-6AEF21B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疑似重复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信息不一致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来源链缺口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8199D-5847-43FF-8282-C923762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DD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E0E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1C4FB-7081-4B9D-AA26-54A0F01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79462-27EE-4A9E-B7A8-548CED20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05125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确认需治理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保留独立记录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留下处理说明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C1580-F727-49DC-9214-9EA60ABB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8958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FFF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883D2-B17C-4CB3-829C-A1F25650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rPr>
              <a:t>不会自动合并、删除或改写 Wiki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19c3953614428"/>
          <a:srcRect xmlns:a="http://schemas.openxmlformats.org/drawingml/2006/main" l="8917" t="0" r="8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00250"/>
            <a:ext cx="5314950" cy="3638550"/>
          </a:xfrm>
          <a:prstGeom xmlns:a="http://schemas.openxmlformats.org/drawingml/2006/main" prst="roundRect">
            <a:avLst>
              <a:gd name="adj" fmla="val 366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5594E-F731-44DC-998B-BC070787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1C138-615B-45E7-927F-624599B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7854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1DC04-111D-48A2-9403-38CEDD4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TECHNOLOGY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1E14B6-BC3C-49F6-9D2C-0DE8E82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模型可以替换，企业知识和治理责任始终掌握在本地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5204A-0F33-4D8B-8353-B812491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分层架构把外部智能服务、正式知识存储和业务审批明确分开。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21BC7-39F3-4A95-8BDC-F3836D5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9124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2D40"/>
          </a:solidFill>
          <a:ln xmlns:a="http://schemas.openxmlformats.org/drawingml/2006/main" w="0">
            <a:solidFill>
              <a:srgbClr val="2B2D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D422E-D245-4209-99A2-491E419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01  交互层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EEFF4-ABF6-43E4-854B-E5CFFFA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 工作空间：文档、分析、资产、Wiki、Agent 与治理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E10BF-3865-41DF-95B8-5BB2864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9124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3052"/>
          </a:solidFill>
          <a:ln xmlns:a="http://schemas.openxmlformats.org/drawingml/2006/main" w="0">
            <a:solidFill>
              <a:srgbClr val="34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EC49F-94E6-4AF8-A379-AC7D8D9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02  业务层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5F2DC-E13B-433F-B003-31A5F7A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权限校验 · 任务编排 · 发布审批 · 版本 · 分享 · 审计 · 备份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80B08-6A24-4526-9E57-A2CC9F1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124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0366C"/>
          </a:solidFill>
          <a:ln xmlns:a="http://schemas.openxmlformats.org/drawingml/2006/main" w="0">
            <a:solidFill>
              <a:srgbClr val="4036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1A7A3-4232-4094-9E5E-09B01370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03  智能层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7EAE6-F99C-4AD1-84A9-4FF29682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MinerU 文档解析 · DeepSeek 结构化分析与任务规划 · Semantica 本地治理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82AE6-B44B-4AAE-84C3-1D2DF17E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124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A3C83"/>
          </a:solidFill>
          <a:ln xmlns:a="http://schemas.openxmlformats.org/drawingml/2006/main" w="0">
            <a:solidFill>
              <a:srgbClr val="4A3C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CA195-AF0A-4BCE-9829-7760D789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04  知识层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3849E-BF6D-4969-85EB-F56B9968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339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 · IP 资产 · 原文证据 · Wiki · 版本 · 关系网络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D0EBF-E1C7-4562-B883-E97AC02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409700" cy="3314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88C38-3C41-45EE-AC50-316B25D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622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贯穿安全边界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C0D22-DF2B-4676-A7B0-55E1268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09900"/>
            <a:ext cx="10668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同源网关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工作空间隔离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文件预检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限流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最小字段传递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操作留痕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DBE84-34E2-4E24-8B2B-DCAD5AE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API 密钥只在服务端读取，不进入浏览器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72229-DF1E-4A5C-B298-8AAC2FF8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6703E-E14A-40CB-96BE-BBBDA5C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8E91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1753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2507D-CE82-4257-BE46-E0685F1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PRODUCT MOAT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A207AE-85D6-449F-B1C7-06961D7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差异不在某一个模型，而在完整闭环和长期积累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9CE0E-58DA-477E-B730-EAEBFC93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解析、证据、关系、治理决定和任务反馈共同形成客户专属的知识网络。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7D8A0-BB59-4BD0-AA6E-80F2057D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8E495-A662-44EC-9299-9281052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ACA83-DFE2-47BC-9A27-A0915C77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版面解析 + 专属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2EE30-9376-4E45-BF59-72A9632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从可读文本走向可治理 IP 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85868-ACE9-48C5-A9A2-F5AB523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可信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98A7C-7FF3-497C-B4C5-684D352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98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B8B2C-A429-4ABC-A340-64B62E9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结论 + 原文证据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0D6F5-3AEE-4826-8CB8-EC1D73A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24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让生成内容可核查、可版本化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7441C-4B77-407E-BEDB-2F53F9D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47B4D-025F-4D40-AF2B-3A1B5A1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97A6E-EB76-4FE4-8DEA-D383D41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知识网络 + 人工治理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FEDAE-0F01-4E98-B5B1-85D80107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让网络增长而不被算法建议污染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A7BC6-138C-4865-8B6E-CDF5568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06B91-7648-4C89-97FD-C7FEC43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89"/>
          </a:solidFill>
          <a:ln xmlns:a="http://schemas.openxmlformats.org/drawingml/2006/main" w="0">
            <a:solidFill>
              <a:srgbClr val="18A8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7A32D-E2CE-4E0A-9D89-363F0432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自然语言 + 封闭工具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E4882-DA44-4418-9CB5-31576B2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24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允许复杂任务同时保留企业可控性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39601-F518-447C-921B-C1E021D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0">
            <a:solidFill>
              <a:srgbClr val="E8F8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C11EB-FF8D-4A36-9751-1AF44F0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更多授权文档 → 更多人工复核 → 更完整的知识网络 → 更高的组织复用价值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79EEB-6B4E-4AAE-8EB0-B494ACC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E9B82-4BD1-4ACF-8E01-6E97F6DD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9047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2C495-CE20-4F01-8996-8703A432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CUSTOMER ADOPTION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0FA95-77ED-4B1C-AD90-B91DB504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3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从一组真实资料开始，用可验收结果决定是否扩大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618F1-D387-4B0A-908E-5F7871DE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无需一次迁移全部知识；先验证提取、来源与治理三项结果。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6AD81-B777-41FC-A3E6-D164A3F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B612-DCB7-4806-8B59-0E2CF0C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选择样本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02EB-D85B-4542-912B-6146ED2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3360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一组已授权、价值明确、包含版本与关系的真实资料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5451A-5AEF-41B1-8726-4815E998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DB6BB-5495-45C7-B926-252DFC48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2B296-8E7F-4D37-991A-46BB79F1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定义目标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7A98E-F7D9-430F-B21F-2458B67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资产盘点、技术尽调、项目复用、客户交付或风险核查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98FE9-668C-4864-9997-9584231E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9A83E-675D-475E-843D-CA3518D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DC339-74F4-43AF-8C35-52F932E2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联合验证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7732-9D66-4CDE-8543-4C32DCA9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结构、证据、关系、权限和任务交付是否满足要求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6D379-1D16-45BC-92E7-65E8919E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B4A8C-1D5D-477C-B127-EBA8654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3B10A-AC2F-416C-99F9-6B3F281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00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逐步扩展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0C287-D6DB-4C08-A0EC-6A26A9C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196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增加文档量、使用团队与治理深度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ef30e20664d79"/>
          <a:srcRect xmlns:a="http://schemas.openxmlformats.org/drawingml/2006/main" l="14840" t="0" r="148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1295400"/>
            <a:ext cx="4591050" cy="45339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27831-CA0F-40D9-8F0D-28769F7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81239-31A5-4D1E-B06F-246F101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0960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96AB1-BDDA-46ED-A1B2-2203915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VALIDATION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4B1AE-C102-4780-8281-250EDA4D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这不是概念图：核心链路已经通过真实服务与 UI 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ADD8-B71F-4A5D-BD76-463A3CCD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86D80"/>
                </a:solidFill>
                <a:latin typeface="Microsoft YaHei"/>
                <a:ea typeface="Microsoft YaHei"/>
                <a:cs typeface="Microsoft YaHei"/>
              </a:rPr>
              <a:t>当前版本已完成全量自动化测试、真实解析与模型链路、本地语义检查和多角色 E2E。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7EE2A-9FA9-4AF3-907E-AB399EA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6557FF"/>
                </a:solidFill>
                <a:latin typeface="Microsoft YaHei"/>
                <a:ea typeface="Microsoft YaHei"/>
                <a:cs typeface="Microsoft YaHei"/>
              </a:rPr>
              <a:t>170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4A32C-88EE-45E0-BA77-079D201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3C16D-D328-4CB0-A10A-F05EB104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18A889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97BA-E5E4-4986-8388-00746BC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构建页面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4B18E-D7BC-44FC-9B3F-8A67D84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B47A1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0F824-064B-4B38-817F-FD8F69F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71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高危依赖漏洞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9B524-4ECE-470B-B96E-EEE1704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0EA"/>
          </a:solidFill>
          <a:ln xmlns:a="http://schemas.openxmlformats.org/drawingml/2006/main" w="0">
            <a:solidFill>
              <a:srgbClr val="DD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B8419-C06A-4544-8767-73FB69F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A3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4A3CDB"/>
                </a:solidFill>
                <a:latin typeface="Microsoft YaHei"/>
                <a:ea typeface="Microsoft YaHei"/>
                <a:cs typeface="Microsoft YaHei"/>
              </a:rPr>
              <a:t>真实链路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7FAED-7F03-4CC0-85B1-80C60EC3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MinerU + DeepSeek 同源服务端链路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Semantica：8 项资产识别 4 条疑似重复候选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02234"/>
                </a:solidFill>
                <a:latin typeface="Microsoft YaHei"/>
                <a:ea typeface="Microsoft YaHei"/>
                <a:cs typeface="Microsoft YaHei"/>
              </a:rPr>
              <a:t>真实 UI 控制台：0 错误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ca6002e434f18"/>
          <a:srcRect xmlns:a="http://schemas.openxmlformats.org/drawingml/2006/main" l="0" t="1713" r="0" b="1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1962150"/>
            <a:ext cx="3333750" cy="37338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C7246-B928-4E2C-B4F6-E3AE32C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intelifar  ·  企业文档 IP 智能平台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5719F-F01E-4BBB-9934-AC92332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969AA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62271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0518bb92145de"/>
          <a:stretch xmlns:a="http://schemas.openxmlformats.org/drawingml/2006/main"/>
        </p:blipFill>
        <p:spPr>
          <a:xfrm xmlns:a="http://schemas.openxmlformats.org/drawingml/2006/main">
            <a:off x="851452" y="514350"/>
            <a:ext cx="2049946" cy="571500"/>
          </a:xfrm>
          <a:prstGeom xmlns:a="http://schemas.openxmlformats.org/drawingml/2006/main" prst="roundRect">
            <a:avLst>
              <a:gd name="adj" fmla="val 2333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8E90-7640-40A9-AB80-E01BBF6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带一组真实资料，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验证它能否成为企业的下一批知识资产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C8AD2-592F-4251-8667-B73D3991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9E54A-35C7-4E9B-BCDE-27EBEFF0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提取得准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DA751-0D85-4541-B024-8CA9692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关键资产与关系是否符合业务专家判断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E7374-F013-449C-BA45-355C0C06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43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83647-39AA-47A0-B889-BE5C0229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62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来源说得清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49B7A-1A13-4CCD-81F0-6D5B57BE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19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每项重要结论是否能回到正确原文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36E8C-8B13-481A-A616-39E0B0F0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FA7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2D09E-46E9-4DFD-9132-8B14F98C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治理管得住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9EA14-80F1-48AC-A95A-1EDD3322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CBD7"/>
                </a:solidFill>
                <a:latin typeface="Microsoft YaHei"/>
                <a:ea typeface="Microsoft YaHei"/>
                <a:cs typeface="Microsoft YaHei"/>
              </a:rPr>
              <a:t>权限、审批、分享和审计是否符合责任链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20430-A6F7-4901-92C5-35667289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76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FF"/>
          </a:solidFill>
          <a:ln xmlns:a="http://schemas.openxmlformats.org/drawingml/2006/main" w="0">
            <a:solidFill>
              <a:srgbClr val="65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19290-82CB-4192-8204-1BB78247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B3FF"/>
                </a:solidFill>
                <a:latin typeface="Microsoft YaHei"/>
                <a:ea typeface="Microsoft YaHei"/>
                <a:cs typeface="Microsoft YaHei"/>
              </a:rPr>
              <a:t>预约产品演示  /  申请联合验证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96AC-6B7A-4E04-B862-3BA5672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15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intelifar</a:t>
            </a:r>
          </a:p>
        </p:txBody>
      </p:sp>
    </p:spTree>
    <p:extLst>
      <p:ext uri="{BB962C8B-B14F-4D97-AF65-F5344CB8AC3E}">
        <p14:creationId xmlns:p14="http://schemas.microsoft.com/office/powerpoint/2010/main" val="1016098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2026-08-12T01:04:12.5070000Z</dcterms:created>
  <dcterms:modified xsi:type="dcterms:W3CDTF">2026-08-12T01:04:12.5070000Z</dcterms:modified>
</coreProperties>
</file>